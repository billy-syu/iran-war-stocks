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0"/>
            <a:ext cx="11786616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戰爭與金融市場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D7D31"/>
                </a:solidFill>
              </a:rPr>
              <a:t>1990 波灣戰爭  vs  2026 美伊戰爭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Gulf War vs US–Iran War  ·  Energy &amp; Defense Stocks  ·  35 Years Apart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566160"/>
            <a:ext cx="576072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3794760"/>
            <a:ext cx="3291840" cy="50292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3794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波灣戰爭  Aug 1990 – Feb 1991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37947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794760"/>
            <a:ext cx="3291840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794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美伊戰爭  Feb 2026 –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DC3E6"/>
                </a:solidFill>
              </a:rPr>
              <a:t>生成式人工智慧導論  ·  Final Term Project  · 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研究標的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Research Targets  ·  6 Stocks  +  2 Oil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5440680" cy="2286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44068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能源股  Energy Stocks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6232"/>
            <a:ext cx="50292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562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XOM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01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ExxonMobil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全球最大上市石油公司，業務涵蓋勘探、煉油、化工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50292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CVX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682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Chevron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9748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美國第二大石油公司，主要生產地橫跨美洲與中東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0088"/>
            <a:ext cx="50292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35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ConocoPhillips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26440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美國最大獨立勘探生產商，不含煉油下游業務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39"/>
            <a:ext cx="5440680" cy="2286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544068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67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  國防股  Defense Stocks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06824"/>
            <a:ext cx="50292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068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251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Lockheed Martin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581144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全球最大國防承包商，F-35、飛彈防禦系統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50292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7375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RTX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818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Raytheon Tech.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148072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愛國者飛彈、導彈系統，2020 年由雷神與 UTC 合併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50292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406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3858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</a:rPr>
              <a:t>Northrop Grumman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1500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B-21 隱形轟炸機、太空與電子戰系統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298448"/>
            <a:ext cx="5897880" cy="4736592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1298448"/>
            <a:ext cx="58978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31673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🛢  原油數據來源  Oil Data Sources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1874519"/>
            <a:ext cx="73152" cy="196596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87451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7F"/>
                </a:solidFill>
              </a:rPr>
              <a:t>波灣戰爭（1990）數據來源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22199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FRED DCOILWTICO — WTI 每日現貨價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624327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美國能源資訊局 (EIA) 授權，
免費公開，最早可追溯至 1986 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291839"/>
            <a:ext cx="530352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31012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來源：EIA  PET_PRI_SPT_S1_D.xls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069079"/>
            <a:ext cx="73152" cy="1965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0690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30A0"/>
                </a:solidFill>
              </a:rPr>
              <a:t>美伊戰爭（2026）數據來源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41655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Yahoo Finance — CL=F 連續期貨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818887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yfinance 套件抓取，
數據可追溯至 ~2000 年後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5486399"/>
            <a:ext cx="5303520" cy="3474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504687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來源：yfinance  CL=F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兩場戰爭背景比較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Background Comparison  ·  Gulf War 1990  vs  US–Iran War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4904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234440"/>
            <a:ext cx="36576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1280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1990 波灣戰爭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234440"/>
            <a:ext cx="36576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2801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2026 美伊戰爭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39112"/>
            <a:ext cx="3749040" cy="758952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2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導火線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039112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084832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伊拉克入侵科威特
（1990-08-02）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039112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084832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美伊核武談判破裂，
美軍精準打擊德黑蘭
（2026-02-28）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3749040" cy="75895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9504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主要交戰方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843784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889504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美國主導多國聯軍 vs 伊拉克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2843784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889504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美國 vs 伊朗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48456"/>
            <a:ext cx="3749040" cy="7589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94176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戰事持續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648456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3694176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~7 個月（沙漠盾牌+沙漠風暴）
停火：1991-02-28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648456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694176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39 天
停火：2026-04-08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53128"/>
            <a:ext cx="3749040" cy="7589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98848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霍木茲海峽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453128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498848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未受直接威脅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453128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4498848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短暫封鎖，全球 20%
石油運輸受阻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57800"/>
            <a:ext cx="3749040" cy="758952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03520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石油市場衝擊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5257800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5303520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WTI 從 $17 飆至 $41
（+141%，沙漠風暴前後回落）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257800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9" y="5303520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WTI 從 $57 飆至 $94
（+65%，停火後維持高位）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062472"/>
            <a:ext cx="3749040" cy="7589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108192"/>
            <a:ext cx="35661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國防股市場預期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6062472"/>
            <a:ext cx="3657600" cy="758952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6108192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突發事件，市場無預期
→ 宣戰後國防股大漲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6062472"/>
            <a:ext cx="3657600" cy="758952"/>
          </a:xfrm>
          <a:prstGeom prst="rect">
            <a:avLst/>
          </a:prstGeom>
          <a:solidFill>
            <a:srgbClr val="F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19" y="6108192"/>
            <a:ext cx="3474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地緣緊張已醞釀，市場提前定價
→ 宣戰後國防股反跌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1234440"/>
            <a:ext cx="3657600" cy="384048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1234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波灣戰爭  1990–1991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1234440"/>
            <a:ext cx="3657600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79" y="1234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美伊戰爭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能源股走勢對比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Energy Stocks  ·  XOM · CVX · COP  ·  Split-adjusted closing prices + crude oil (right axis)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波灣戰爭  Gulf War  Jun 1990 – Apr 1991</a:t>
            </a:r>
          </a:p>
        </p:txBody>
      </p:sp>
      <p:pic>
        <p:nvPicPr>
          <p:cNvPr id="7" name="Picture 6" descr="energy_stocks_gu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669280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1261872"/>
            <a:ext cx="5715000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美伊戰爭  US–Iran War  Jan 2026 – Jun 2026</a:t>
            </a:r>
          </a:p>
        </p:txBody>
      </p:sp>
      <p:pic>
        <p:nvPicPr>
          <p:cNvPr id="10" name="Picture 9" descr="energy_st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715000" cy="4983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16752" y="1261872"/>
            <a:ext cx="36576" cy="5440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國防股走勢對比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Defense Stocks  ·  LMT · RTX · NOC  ·  Split-adjusted closing prices + crude oil (right axis)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波灣戰爭  Gulf War  Jun 1990 – Apr 1991</a:t>
            </a:r>
          </a:p>
        </p:txBody>
      </p:sp>
      <p:pic>
        <p:nvPicPr>
          <p:cNvPr id="7" name="Picture 6" descr="defense_stocks_gu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5669280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1261872"/>
            <a:ext cx="5715000" cy="38404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美伊戰爭  US–Iran War  Jan 2026 – Jun 2026</a:t>
            </a:r>
          </a:p>
        </p:txBody>
      </p:sp>
      <p:pic>
        <p:nvPicPr>
          <p:cNvPr id="10" name="Picture 9" descr="defense_st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715000" cy="4983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16752" y="1261872"/>
            <a:ext cx="36576" cy="5440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各階段漲跌幅對比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Percentage Change by Period  ·  Gulf War  vs  US–Iran War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98448"/>
          <a:ext cx="1026871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63040"/>
                <a:gridCol w="1463040"/>
                <a:gridCol w="1463040"/>
                <a:gridCol w="256032"/>
                <a:gridCol w="1463040"/>
                <a:gridCol w="1463040"/>
                <a:gridCol w="1463040"/>
              </a:tblGrid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股票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戰前期
(Gulf)</a:t>
                      </a:r>
                    </a:p>
                  </a:txBody>
                  <a:tcPr>
                    <a:solidFill>
                      <a:srgbClr val="007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戰事中
(Gulf)</a:t>
                      </a:r>
                    </a:p>
                  </a:txBody>
                  <a:tcPr>
                    <a:solidFill>
                      <a:srgbClr val="007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沙漠風暴
(Gulf)</a:t>
                      </a:r>
                    </a:p>
                  </a:txBody>
                  <a:tcPr>
                    <a:solidFill>
                      <a:srgbClr val="0070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戰前期
(Iran)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爆發期
(Iran)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停火後
(Iran)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4B5"/>
                          </a:solidFill>
                        </a:rPr>
                        <a:t>XOM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+9.2%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-4.2%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+9.8%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+25.2%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+10.0%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-3.6%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4B5"/>
                          </a:solidFill>
                        </a:rPr>
                        <a:t>CVX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+14.4%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-8.2%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+5.0%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+21.0%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+9.1%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-1.9%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4B5"/>
                          </a:solidFill>
                        </a:rPr>
                        <a:t>COP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+9.5%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-15.1%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+11.8%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+18.2%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+11.6%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-6.0%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LMT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-22.9%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+24.3%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+15.6%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+32.4%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-10.7%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-17.8%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RTX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-1.3%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-20.2%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+5.5%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+8.6%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-9.1%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-14.0%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</a:rPr>
                        <a:t>NOC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-19.7%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+30.4%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+37.2%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+24.1%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-11.2%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-21.6%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D7D31"/>
                          </a:solidFill>
                        </a:rPr>
                        <a:t>原油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+23.3%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+36.0%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0000"/>
                          </a:solidFill>
                        </a:rPr>
                        <a:t>-10.2%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+16.9%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+42.3%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78630"/>
                          </a:solidFill>
                        </a:rPr>
                        <a:t>+0.3%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6492240"/>
            <a:ext cx="5029200" cy="32004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波灣戰爭  Gulf War  P1=戰前 / P2=戰事 / P3=沙漠風暴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6492240"/>
            <a:ext cx="5303520" cy="32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6492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美伊戰爭  US–Iran War  P1=戰前 / P2=爆發 / P3=停火後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核心謎題：國防股為何反應完全相反？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Defense Stock Paradox  ·  1990 Rose  vs  2026 Fell  ·  Two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40680" cy="658368"/>
          </a:xfrm>
          <a:prstGeom prst="rect">
            <a:avLst/>
          </a:prstGeom>
          <a:solidFill>
            <a:srgbClr val="E3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07F"/>
                </a:solidFill>
              </a:rPr>
              <a:t>1990 波灣戰爭：國防股戰事中大漲  LMT +24%  NOC +30%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440680" cy="658368"/>
          </a:xfrm>
          <a:prstGeom prst="rect">
            <a:avLst/>
          </a:prstGeom>
          <a:solidFill>
            <a:srgbClr val="F3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16736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30A0"/>
                </a:solidFill>
              </a:rPr>
              <a:t>2026 美伊戰爭：國防股戰事中下跌  LMT -11%  NOC -11%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1280160"/>
            <a:ext cx="758952" cy="65836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1353312"/>
            <a:ext cx="7589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相反！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84831"/>
            <a:ext cx="5577840" cy="35661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84831"/>
            <a:ext cx="557784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假說 A　市場預期差異（Surprise Effect）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33471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1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1990：伊拉克入侵科威特為突發事件，
市場毫無預期 → 宣戰後國防股大漲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10127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10127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2026：地緣緊張醞釀數月，
LMT/NOC 已在戰前大漲 32%/24%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86783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86783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股價高點出現在 2026-02-28 之前，
宣戰即成獲利了結訊號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39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63439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「買謠言、賣事實」
(Buy the Rumor, Sell the News)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084831"/>
            <a:ext cx="5577840" cy="35661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2084831"/>
            <a:ext cx="5577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139695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假說 B　戰爭性質差異（War Character）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633471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633471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1990：沙漠風暴展現美軍壓倒性優勢，
愛國者飛彈、精準轟炸大幅提升國防股評價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310127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310127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2026：伊朗封鎖霍木茲海峽、
飛彈穿透防空，顯示美軍防禦出現漏洞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986783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3986783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市場下修對美國國防工業的
長期競爭力評估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663439"/>
            <a:ext cx="274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663439"/>
            <a:ext cx="5120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短期衝突 (39 天) 不足以驅動
新一輪長期國防預算增加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6752" y="2633471"/>
            <a:ext cx="457200" cy="2926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35478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07070"/>
                </a:solidFill>
              </a:rPr>
              <a:t>VS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06440"/>
            <a:ext cx="11457432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833872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</a:rPr>
              <a:t>兩種假說都有數據支持，且可能同時成立。要明確區分，需要基本面資料：武器訂單數據、實際戰場損耗報告、國會國防預算修正案。
這是純量化分析的邊界 — 也是人類判斷不可取代之處。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跨越 35 年的三個發現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Three Findings Across 35 Years  ·  Gulf War 1990  &amp;  US–Iran War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57432" cy="17190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11480" cy="17190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9280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10744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</a:rPr>
              <a:t>能源股：中東衝突的一致性受益者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10744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Energy Stocks Consistently Benefit from Middle-East Conflicts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744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兩場戰爭中，能源股在戰前期與爆發期均呈正報酬。原油供應中斷預期是核心驅動力。差異在於幅度：1990 年 WTI 漲幅 +141%（供應實際中斷）；2026 年 +65%（短暫封鎖後恢復）。停火後能源股均回落，反映供應恢復預期。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457432" cy="17190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411480" cy="17190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7588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10744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</a:rPr>
              <a:t>國防股：反應方向取決於「戰爭是否被預期」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47872"/>
            <a:ext cx="10744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Defense Stocks: Direction Depends on Whether the War Was Pre-Priced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744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1990 年突發入侵 → 無前置定價 → 宣戰後大漲（LMT+24%, NOC+30%）。
2026 年緊張醞釀數月 → 充分定價 → 宣戰後反跌（LMT-11%, NOC-11%）。
投資啟示：評估國防股，必須先問「市場已定價多少？」而非「戰爭會發生嗎？」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92040"/>
            <a:ext cx="11457432" cy="17190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411480" cy="1719072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458968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65192"/>
            <a:ext cx="10744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07F"/>
                </a:solidFill>
              </a:rPr>
              <a:t>原油是地緣衝突的最快領先指標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30952"/>
            <a:ext cx="10744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Crude Oil Is the Fastest Leading Indicator of Geopolitical Conflict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744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</a:rPr>
              <a:t>1990 年：伊拉克入侵當天 WTI 即跳漲，能源股滯後 1-2 日。
2026 年：WTI 爆發期大漲 +42%，為所有資產中反應最劇烈的。
操作啟示：監測原油期貨的異常波動，可作為能源股進出場的領先訊號。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92240"/>
            <a:ext cx="11457432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</a:rPr>
              <a:t>數據期間：Gulf War 1990-06-01 ~ 1991-04-30  ·  US–Iran War 2026-01-01 ~ 2026-06-04  ·  數據來源：Yahoo Finance · EIA · FRED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