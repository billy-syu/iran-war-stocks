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2188952" cy="640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美伊戰爭金融市場衝擊分析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ED7D31"/>
                </a:solidFill>
              </a:rPr>
              <a:t>Spec-Driven Multi-Agent 實作報告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DD7EE"/>
                </a:solidFill>
              </a:rPr>
              <a:t>US–Iran War  ·  Impact on Energy &amp; Defense Stocks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886200"/>
            <a:ext cx="5760720" cy="365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0690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DC3E6"/>
                </a:solidFill>
              </a:rPr>
              <a:t>生成式人工智慧導論  ·  Final Term Project  · 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研究主題與動機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Research Topic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303520" cy="5257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564"/>
                </a:solidFill>
              </a:rPr>
              <a:t>研究主題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54864" cy="3291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274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572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2026 年 2 月 28 日美伊戰爭爆發，
地緣政治風險急遽升高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16352"/>
            <a:ext cx="274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16352"/>
            <a:ext cx="4572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能源股與國防股被視為戰爭受益標的，
但市場反應是否符合直覺？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21024"/>
            <a:ext cx="274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21024"/>
            <a:ext cx="4572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原油期貨 (CL=F) 如何領先或滯後
於股票市場？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25696"/>
            <a:ext cx="274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25696"/>
            <a:ext cx="4572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三個時間段：戰前、爆發期、停火後
各有何不同的市場邏輯？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5897880" cy="52578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4630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564"/>
                </a:solidFill>
              </a:rPr>
              <a:t>我們想回答的問題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965960"/>
            <a:ext cx="54864" cy="32918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011680"/>
            <a:ext cx="274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4B5"/>
                </a:solidFill>
              </a:rPr>
              <a:t>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011680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戰爭爆發時，能源股真的會上漲嗎？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816352"/>
            <a:ext cx="274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4B5"/>
                </a:solidFill>
              </a:rPr>
              <a:t>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816352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國防股在戰爭期間的表現是否符合
「戰爭概念股」預期？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621024"/>
            <a:ext cx="274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4B5"/>
                </a:solidFill>
              </a:rPr>
              <a:t>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621024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原油價格是市場的領先指標嗎？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425696"/>
            <a:ext cx="274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4B5"/>
                </a:solidFill>
              </a:rPr>
              <a:t>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425696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停火後資金如何重新配置？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什麼是 Spec-Driven 開發？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Spec-Driven Development Applied to AI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457432" cy="10058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3564"/>
                </a:solidFill>
              </a:rPr>
              <a:t>核心概念：先寫「規格書 (Spec)」，再讓 AI Agent 按規格執行 — 人類定義 WHAT，Agent 決定 HOW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514600"/>
            <a:ext cx="3474720" cy="30175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  定義規格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172968"/>
            <a:ext cx="32004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9184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明確寫出任務目標、
輸入/輸出格式、品質標準
(本研究：CSV 格式、時間區間、
圖表樣式)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70332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514600"/>
            <a:ext cx="3474720" cy="30175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651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  Agent 執行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172968"/>
            <a:ext cx="32004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29184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Claude Code 解讀規格，
自動分派子任務給
Agent A / Agent B，
git commit 記錄每步驟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70332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514600"/>
            <a:ext cx="3474720" cy="30175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651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3  驗證與迭代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3172968"/>
            <a:ext cx="32004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329184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人類審查輸出是否符合規格，
不符則修改規格重跑 —
而非修改 Agent 內部邏輯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80644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07070"/>
                </a:solidFill>
              </a:rPr>
              <a:t>優點：可重現、可審計、人類保有控制權；每次 git commit 都對應一條規格指令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多智能體工作流程架構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Multi-Agent Workflow  ·  Claude Code  +  Agent A  +  GPT-4o Agent B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1234440"/>
            <a:ext cx="1581912" cy="5623560"/>
          </a:xfrm>
          <a:prstGeom prst="rect">
            <a:avLst/>
          </a:prstGeom>
          <a:solidFill>
            <a:srgbClr val="F0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1325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78630"/>
                </a:solidFill>
              </a:rPr>
              <a:t>git log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44200" y="1847088"/>
            <a:ext cx="109728" cy="219456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178308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fetch_stocks.py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44200" y="2221992"/>
            <a:ext cx="109728" cy="219456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27080" y="215798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raw_stocks.csv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44200" y="2596896"/>
            <a:ext cx="109728" cy="219456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27080" y="253288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analysis.py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44200" y="2971800"/>
            <a:ext cx="109728" cy="219456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27080" y="29077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analysis_results.csv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44200" y="3346704"/>
            <a:ext cx="109728" cy="219456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27080" y="328269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plot_stocks.py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44200" y="3721608"/>
            <a:ext cx="109728" cy="219456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27080" y="36576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energy/defense .png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44200" y="4096512"/>
            <a:ext cx="109728" cy="219456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27080" y="403250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generate_report.py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44200" y="4471416"/>
            <a:ext cx="109728" cy="219456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27080" y="440740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final_report.md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44200" y="4846320"/>
            <a:ext cx="109728" cy="219456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27080" y="47823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generate_ppt_v2.py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744200" y="5221224"/>
            <a:ext cx="109728" cy="219456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27080" y="515721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iran_war_stocks_v2.pptx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1828800"/>
            <a:ext cx="2560320" cy="1097280"/>
          </a:xfrm>
          <a:prstGeom prst="rect">
            <a:avLst/>
          </a:prstGeom>
          <a:solidFill>
            <a:srgbClr val="1F35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Claude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2331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</a:rPr>
              <a:t>Orchestrator
規格解讀 · 任務分派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0" y="1234440"/>
            <a:ext cx="164592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0" y="12344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人類撰寫規格 (Spec)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1737360"/>
            <a:ext cx="54864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2926080"/>
            <a:ext cx="54864" cy="6400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66176" y="2926080"/>
            <a:ext cx="54864" cy="6400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0" y="3566160"/>
            <a:ext cx="2560320" cy="1417320"/>
          </a:xfrm>
          <a:prstGeom prst="rect">
            <a:avLst/>
          </a:prstGeom>
          <a:solidFill>
            <a:srgbClr val="2E74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11680" y="36393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Agent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數據抓取 &amp; 圖表生成
yfinance · matplotlib
→ raw_stocks.csv · .png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3566160"/>
            <a:ext cx="2560320" cy="1417320"/>
          </a:xfrm>
          <a:prstGeom prst="rect">
            <a:avLst/>
          </a:prstGeom>
          <a:solidFill>
            <a:srgbClr val="107C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36393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GPT-4o  Agent 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報告撰寫 &amp; 洞察分析
analysis.py · generate_report.py
→ final_report.md · .pptx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64408" y="4983480"/>
            <a:ext cx="54864" cy="2743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99448" y="4983480"/>
            <a:ext cx="54864" cy="2743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0" y="5257800"/>
            <a:ext cx="6217920" cy="685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0" y="525780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3564"/>
                </a:solidFill>
              </a:rPr>
              <a:t>iran_war_stocks_v2.pptx  ·  final_report.md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291840"/>
            <a:ext cx="1645920" cy="1188720"/>
          </a:xfrm>
          <a:prstGeom prst="rect">
            <a:avLst/>
          </a:prstGeom>
          <a:solidFill>
            <a:srgbClr val="F2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38328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564"/>
                </a:solidFill>
              </a:rPr>
              <a:t>Yahoo Finance</a:t>
            </a:r>
          </a:p>
          <a:p>
            <a:pPr algn="ctr"/>
            <a:r>
              <a:rPr sz="900">
                <a:solidFill>
                  <a:srgbClr val="1F3564"/>
                </a:solidFill>
              </a:rPr>
              <a:t>XOM · CVX · COP
LMT · RTX · NOC · CL=F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20240" y="3794760"/>
            <a:ext cx="9144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事件背景：美伊戰爭時間軸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US–Iran War Timeline  ·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749040"/>
            <a:ext cx="10515600" cy="7315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94944" y="3657600"/>
            <a:ext cx="256032" cy="256032"/>
          </a:xfrm>
          <a:prstGeom prst="ellipse">
            <a:avLst/>
          </a:prstGeom>
          <a:solidFill>
            <a:srgbClr val="2E74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971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564"/>
                </a:solidFill>
              </a:rPr>
              <a:t>2026-01-01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91440" y="4069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74B5"/>
                </a:solidFill>
              </a:rPr>
              <a:t>觀察期開始
Baseline</a:t>
            </a:r>
          </a:p>
        </p:txBody>
      </p:sp>
      <p:sp>
        <p:nvSpPr>
          <p:cNvPr id="9" name="Oval 8"/>
          <p:cNvSpPr/>
          <p:nvPr/>
        </p:nvSpPr>
        <p:spPr>
          <a:xfrm>
            <a:off x="3323844" y="3657600"/>
            <a:ext cx="256032" cy="256032"/>
          </a:xfrm>
          <a:prstGeom prst="ellipse">
            <a:avLst/>
          </a:prstGeom>
          <a:solidFill>
            <a:srgbClr val="C0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8900" y="2971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564"/>
                </a:solidFill>
              </a:rPr>
              <a:t>2026-02-28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7460" y="4069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0000"/>
                </a:solidFill>
              </a:rPr>
              <a:t>戰爭爆發
War Outbreak</a:t>
            </a:r>
          </a:p>
        </p:txBody>
      </p:sp>
      <p:sp>
        <p:nvSpPr>
          <p:cNvPr id="12" name="Oval 11"/>
          <p:cNvSpPr/>
          <p:nvPr/>
        </p:nvSpPr>
        <p:spPr>
          <a:xfrm>
            <a:off x="5952744" y="3657600"/>
            <a:ext cx="256032" cy="256032"/>
          </a:xfrm>
          <a:prstGeom prst="ellipse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2971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564"/>
                </a:solidFill>
              </a:rPr>
              <a:t>2026-04-08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4069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D7D31"/>
                </a:solidFill>
              </a:rPr>
              <a:t>停火協議
Ceasefire</a:t>
            </a:r>
          </a:p>
        </p:txBody>
      </p:sp>
      <p:sp>
        <p:nvSpPr>
          <p:cNvPr id="15" name="Oval 14"/>
          <p:cNvSpPr/>
          <p:nvPr/>
        </p:nvSpPr>
        <p:spPr>
          <a:xfrm>
            <a:off x="8581644" y="3657600"/>
            <a:ext cx="256032" cy="256032"/>
          </a:xfrm>
          <a:prstGeom prst="ellipse">
            <a:avLst/>
          </a:prstGeom>
          <a:solidFill>
            <a:srgbClr val="37863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6700" y="2971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564"/>
                </a:solidFill>
              </a:rPr>
              <a:t>2026-05-05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5260" y="4069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8630"/>
                </a:solidFill>
              </a:rPr>
              <a:t>軍事行動結束
Op. Ended</a:t>
            </a:r>
          </a:p>
        </p:txBody>
      </p:sp>
      <p:sp>
        <p:nvSpPr>
          <p:cNvPr id="18" name="Oval 17"/>
          <p:cNvSpPr/>
          <p:nvPr/>
        </p:nvSpPr>
        <p:spPr>
          <a:xfrm>
            <a:off x="11210544" y="3657600"/>
            <a:ext cx="256032" cy="256032"/>
          </a:xfrm>
          <a:prstGeom prst="ellipse">
            <a:avLst/>
          </a:prstGeom>
          <a:solidFill>
            <a:srgbClr val="70707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0" y="2971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564"/>
                </a:solidFill>
              </a:rPr>
              <a:t>2026-06-04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4069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07070"/>
                </a:solidFill>
              </a:rPr>
              <a:t>資料截止
Data 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2624328"/>
            <a:ext cx="2628900" cy="45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2404872"/>
            <a:ext cx="45720" cy="21945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06140" y="2404872"/>
            <a:ext cx="45720" cy="21945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69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2E74B5"/>
                </a:solidFill>
              </a:rPr>
              <a:t>戰前期  Before War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51860" y="2624328"/>
            <a:ext cx="262890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51860" y="2404872"/>
            <a:ext cx="45720" cy="2194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0" y="2404872"/>
            <a:ext cx="45720" cy="2194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7759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C00000"/>
                </a:solidFill>
              </a:rPr>
              <a:t>戰爭爆發期  War Outbreak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2624328"/>
            <a:ext cx="5257800" cy="45720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0760" y="2404872"/>
            <a:ext cx="45720" cy="219456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292840" y="2404872"/>
            <a:ext cx="45720" cy="219456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094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378630"/>
                </a:solidFill>
              </a:rPr>
              <a:t>停火後  After Ceasefire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1206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1206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伊朗核武計畫談判破裂，美軍實施精準打擊德黑蘭核設施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62356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6235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霍木茲海峽短暫封鎖，全球約 20% 石油運輸受阻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12648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1264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4 月 8 日在聯合國斡旋下達成臨時停火，5 月 5 日正式結束敵對行動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能源股走勢分析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Energy Stocks  ·  XOM · CVX · COP  +  WTI Crude Oil (right axis)</a:t>
            </a:r>
          </a:p>
        </p:txBody>
      </p:sp>
      <p:pic>
        <p:nvPicPr>
          <p:cNvPr id="5" name="Picture 4" descr="energy_st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61872"/>
            <a:ext cx="8503920" cy="5440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915400" y="1261872"/>
            <a:ext cx="3017520" cy="54406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0" y="1371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564"/>
                </a:solidFill>
              </a:rPr>
              <a:t>關鍵發現</a:t>
            </a:r>
          </a:p>
        </p:txBody>
      </p:sp>
      <p:sp>
        <p:nvSpPr>
          <p:cNvPr id="8" name="Rectangle 7"/>
          <p:cNvSpPr/>
          <p:nvPr/>
        </p:nvSpPr>
        <p:spPr>
          <a:xfrm>
            <a:off x="9052560" y="1783080"/>
            <a:ext cx="2651760" cy="365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52560" y="1920240"/>
            <a:ext cx="2651760" cy="365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199339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4B5"/>
                </a:solidFill>
              </a:rPr>
              <a:t>戰前期
+16%～+25%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450592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市場提前反應供應
中斷預期，三股
同步上揚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3337560"/>
            <a:ext cx="2651760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341071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</a:rPr>
              <a:t>爆發期
+9%～+12%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867912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原油飆升 +42%
帶動能源股續漲
（但漲幅縮窄）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4754880"/>
            <a:ext cx="265176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482803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停火後
-2%～-6%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5285232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供應恢復預期使
能源股獲利了結
回落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59893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07070"/>
                </a:solidFill>
              </a:rPr>
              <a:t>原油領先能源股
約 1-2 個交易日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國防股走勢分析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Defense Stocks  ·  LMT · RTX · NOC  +  WTI Crude Oil (right axis)</a:t>
            </a:r>
          </a:p>
        </p:txBody>
      </p:sp>
      <p:pic>
        <p:nvPicPr>
          <p:cNvPr id="5" name="Picture 4" descr="defense_st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61872"/>
            <a:ext cx="8503920" cy="5440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915400" y="1261872"/>
            <a:ext cx="3017520" cy="54406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0" y="1371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564"/>
                </a:solidFill>
              </a:rPr>
              <a:t>關鍵發現</a:t>
            </a:r>
          </a:p>
        </p:txBody>
      </p:sp>
      <p:sp>
        <p:nvSpPr>
          <p:cNvPr id="8" name="Rectangle 7"/>
          <p:cNvSpPr/>
          <p:nvPr/>
        </p:nvSpPr>
        <p:spPr>
          <a:xfrm>
            <a:off x="9052560" y="1783080"/>
            <a:ext cx="265176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52560" y="1920240"/>
            <a:ext cx="2651760" cy="365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199339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4B5"/>
                </a:solidFill>
              </a:rPr>
              <a:t>戰前期
+8%～+32%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450592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市場預期戰爭提前
買入，LMT 大漲 32%
為三股最高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3337560"/>
            <a:ext cx="265176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341071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爆發期
-9%～-11%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867912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出乎意料的下跌！
市場判斷短期衝突
不增加國防預算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4754880"/>
            <a:ext cx="265176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482803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停火後
-14%～-22%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5285232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軍事需求預期降溫，
資金轉向能源股，
持續回落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5897880"/>
            <a:ext cx="2651760" cy="658368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592531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</a:rPr>
              <a:t>違反直覺：戰爭期間
國防股反而下跌！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各階段漲跌幅彙整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Percentage Change by Period  ·  source: data/analysis_results.csv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371600"/>
          <a:ext cx="996696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651760"/>
                <a:gridCol w="2651760"/>
                <a:gridCol w="2651760"/>
              </a:tblGrid>
              <a:tr h="65722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股票代碼
Ticker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戰前期
Before War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戰爭爆發期
War Outbreak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停火後
After Ceasefire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4B5"/>
                          </a:solidFill>
                        </a:rPr>
                        <a:t>CL=F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78630"/>
                          </a:solidFill>
                        </a:rPr>
                        <a:t>+16.92%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78630"/>
                          </a:solidFill>
                        </a:rPr>
                        <a:t>+42.33%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78630"/>
                          </a:solidFill>
                        </a:rPr>
                        <a:t>+0.25%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4B5"/>
                          </a:solidFill>
                        </a:rPr>
                        <a:t>COP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78630"/>
                          </a:solidFill>
                        </a:rPr>
                        <a:t>+18.25%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78630"/>
                          </a:solidFill>
                        </a:rPr>
                        <a:t>+11.64%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0000"/>
                          </a:solidFill>
                        </a:rPr>
                        <a:t>-5.97%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4B5"/>
                          </a:solidFill>
                        </a:rPr>
                        <a:t>CVX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78630"/>
                          </a:solidFill>
                        </a:rPr>
                        <a:t>+20.97%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78630"/>
                          </a:solidFill>
                        </a:rPr>
                        <a:t>+9.12%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0000"/>
                          </a:solidFill>
                        </a:rPr>
                        <a:t>-1.88%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4B5"/>
                          </a:solidFill>
                        </a:rPr>
                        <a:t>XOM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78630"/>
                          </a:solidFill>
                        </a:rPr>
                        <a:t>+25.17%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78630"/>
                          </a:solidFill>
                        </a:rPr>
                        <a:t>+10.01%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0000"/>
                          </a:solidFill>
                        </a:rPr>
                        <a:t>-3.61%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0000"/>
                          </a:solidFill>
                        </a:rPr>
                        <a:t>LMT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78630"/>
                          </a:solidFill>
                        </a:rPr>
                        <a:t>+32.39%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0000"/>
                          </a:solidFill>
                        </a:rPr>
                        <a:t>-10.69%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0000"/>
                          </a:solidFill>
                        </a:rPr>
                        <a:t>-17.77%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0000"/>
                          </a:solidFill>
                        </a:rPr>
                        <a:t>NOC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78630"/>
                          </a:solidFill>
                        </a:rPr>
                        <a:t>+24.08%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0000"/>
                          </a:solidFill>
                        </a:rPr>
                        <a:t>-11.17%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0000"/>
                          </a:solidFill>
                        </a:rPr>
                        <a:t>-21.60%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0000"/>
                          </a:solidFill>
                        </a:rPr>
                        <a:t>RTX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78630"/>
                          </a:solidFill>
                        </a:rPr>
                        <a:t>+8.57%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0000"/>
                          </a:solidFill>
                        </a:rPr>
                        <a:t>-9.08%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0000"/>
                          </a:solidFill>
                        </a:rPr>
                        <a:t>-14.00%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097280" y="6080760"/>
            <a:ext cx="228600" cy="2286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6053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74B5"/>
                </a:solidFill>
              </a:rPr>
              <a:t>能源股 / CL=F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6080760"/>
            <a:ext cx="228600" cy="2286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6053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0000"/>
                </a:solidFill>
              </a:rPr>
              <a:t>國防股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關鍵發現：國防股為何下跌？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Key Findings  ·  Two Competing Hypotheses  ·  You Decide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57432" cy="658368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</a:rPr>
              <a:t>現象：戰爭爆發期間國防股 LMT / NOC / RTX 下跌 -9%～-11%，能源股同期上漲 +9%～+12% — 為什麼？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29968"/>
            <a:ext cx="5623560" cy="393192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029968"/>
            <a:ext cx="5623560" cy="47548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8483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假說 A　美軍表現不如預期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24328"/>
            <a:ext cx="274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4B5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24328"/>
            <a:ext cx="51663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伊朗成功短暫封鎖霍木茲海峽，
美軍未能快速解除封鎖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83280"/>
            <a:ext cx="274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4B5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51663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飛彈與無人機攻擊穿透美軍防空系統，
顯示防空效能不足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42232"/>
            <a:ext cx="274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4B5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42232"/>
            <a:ext cx="51663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戰爭從 2/28 持續至 4/8 停火，長達 39 天，
超出市場「閃電戰」預期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01184"/>
            <a:ext cx="274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4B5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01184"/>
            <a:ext cx="51663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美軍武器耗損高，補充採購雖增加
但短期無法轉為獲利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458968"/>
            <a:ext cx="5349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2E74B5"/>
                </a:solidFill>
              </a:rPr>
              <a:t>→ 市場認為美國國防工業「能力受質疑」，
   股價反映負面評估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029968"/>
            <a:ext cx="5623560" cy="393192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029968"/>
            <a:ext cx="5623560" cy="47548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08483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假說 B　買謠言、賣事實（Pre-priced）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24328"/>
            <a:ext cx="274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624328"/>
            <a:ext cx="51663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LMT、NOC 在戰前期已大漲 32% / 24%，
市場早已定價戰爭概念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83280"/>
            <a:ext cx="274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383280"/>
            <a:ext cx="51663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LMT 與 NOC 股價高點出現在 2/28 之前，
宣戰當天即開始回落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42232"/>
            <a:ext cx="274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142232"/>
            <a:ext cx="51663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實際武器訂單從簽約到入帳獲利
需要 3-5 年，無法反映短期股價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901184"/>
            <a:ext cx="274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901184"/>
            <a:ext cx="51663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短期衝突 (39 天) 不足以推動
新一輪長期國防預算增加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458968"/>
            <a:ext cx="5349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ED7D31"/>
                </a:solidFill>
              </a:rPr>
              <a:t>→ 市場行為符合「預期已充分反映，
   事件落地後獲利了結」的經典模式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2670048"/>
            <a:ext cx="457200" cy="31089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37673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07070"/>
                </a:solidFill>
              </a:rPr>
              <a:t>VS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080760"/>
            <a:ext cx="11457432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099048"/>
            <a:ext cx="11155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07070"/>
                </a:solidFill>
              </a:rPr>
              <a:t>分析侷限：純價格分析無法區分兩種假說 — 需結合基本面資料（訂單數據、武器耗損報告、國防預算修正）才能驗證。
這正是 Spec-Driven Multi-Agent 分析的邊界：Agent 能高效處理量化資料，但「為什麼」仍需人類判斷。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AI 是工具，判斷是人的責任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Spec-Driven Multi-Agent 實作反思  ·  Lessons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98448"/>
            <a:ext cx="5486400" cy="416052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98448"/>
            <a:ext cx="5486400" cy="47548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6245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AI Agent 能做的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92808"/>
            <a:ext cx="27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4B5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9280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收集大量數據（Yahoo Finance，7 支股票 × 104 天）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78608"/>
            <a:ext cx="27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4B5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7860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自動計算漲跌幅、生成圖表與視覺化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64408"/>
            <a:ext cx="27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4B5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6440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撰寫結構化報告，格式一致、可重現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50208"/>
            <a:ext cx="27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4B5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5020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多 Agent 並行處理，效率遠高於人工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36008"/>
            <a:ext cx="27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4B5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3600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全程 git 記錄，每步可追蹤、可審計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36792" y="1298448"/>
            <a:ext cx="5486400" cy="416052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36792" y="1298448"/>
            <a:ext cx="5486400" cy="47548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136245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人類不可取代的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1892808"/>
            <a:ext cx="27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</a:rPr>
              <a:t>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189280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判斷數據背後的邏輯（假說 A vs 假說 B）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578608"/>
            <a:ext cx="27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</a:rPr>
              <a:t>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257860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理解地緣政治的複雜性與脈絡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264408"/>
            <a:ext cx="27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</a:rPr>
              <a:t>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326440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提出有意義的研究假說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950208"/>
            <a:ext cx="27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</a:rPr>
              <a:t>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395020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決定哪一種解釋更可信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636008"/>
            <a:ext cx="27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</a:rPr>
              <a:t>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463600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對結論承擔最後責任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1847088"/>
            <a:ext cx="301752" cy="35204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2944368"/>
            <a:ext cx="301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07070"/>
                </a:solidFill>
              </a:rPr>
              <a:t>+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623560"/>
            <a:ext cx="11457432" cy="14173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80644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本次實作展示了 Spec-Driven Multi-Agent 的效率，但國防股假說 A vs 假說 B 的辯證說明：
AI 能告訴你「發生了什麼」，但「為什麼」和「代表什麼意義」，仍需要人類的批判性思考。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