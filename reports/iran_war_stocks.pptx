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8"/>
  </p:normalViewPr>
  <p:slideViewPr>
    <p:cSldViewPr snapToGrid="0" snapToObjects="1">
      <p:cViewPr varScale="1">
        <p:scale>
          <a:sx n="113" d="100"/>
          <a:sy n="113" d="100"/>
        </p:scale>
        <p:origin x="66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2188952" cy="6400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55448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美伊戰爭金融市場衝擊分析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ED7D31"/>
                </a:solidFill>
              </a:rPr>
              <a:t>Spec-Driven Multi-Agent 實作報告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46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BDD7EE"/>
                </a:solidFill>
              </a:rPr>
              <a:t>US–Iran War  ·  Impact on Energy &amp; Defense Stocks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3886200"/>
            <a:ext cx="576072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4069080"/>
            <a:ext cx="11064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DC3E6"/>
                </a:solidFill>
              </a:rPr>
              <a:t>生成式人工智慧導論  ·  Final Term Project  ·  2026-06-03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研究主題與動機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Research Topic &amp;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5303520" cy="5257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研究主題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965960"/>
            <a:ext cx="54864" cy="3291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2011680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2026 年 2 月 28 日美伊戰爭爆發，
地緣政治風險急遽升高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16352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816352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能源股與國防股被視為戰爭受益標的，
但市場反應是否符合直覺？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621024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621024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原油期貨 (CL=F) 如何領先或滯後
於股票市場？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425696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425696"/>
            <a:ext cx="457200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三個時間段：戰前、爆發期、停火後
各有何不同的市場邏輯？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1325880"/>
            <a:ext cx="5897880" cy="52578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72200" y="146304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3564"/>
                </a:solidFill>
              </a:rPr>
              <a:t>我們想回答的問題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2200" y="1965960"/>
            <a:ext cx="54864" cy="3291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2011680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011680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戰爭爆發時，能源股真的會上漲嗎？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2816352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816352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國防股在戰爭期間的表現是否符合
「戰爭概念股」預期？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3621024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9400" y="3621024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原油價格是市場的領先指標嗎？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4425696"/>
            <a:ext cx="27432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？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425696"/>
            <a:ext cx="51206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停火後資金如何重新配置？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什麼是 Spec-Driven 開發？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Spec-Driven Development Applied to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25880"/>
            <a:ext cx="11457432" cy="100584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3564"/>
                </a:solidFill>
              </a:rPr>
              <a:t>核心概念：先寫「規格書 (Spec)」，再讓 AI Agent 按規格執行 — 人類定義 WHAT，Agent 決定 HOW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514600"/>
            <a:ext cx="3474720" cy="30175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1  定義規格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172968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明確寫出任務目標、
輸入/輸出格式、品質標準
(本研究：CSV 格式、時間區間、
圖表樣式)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7033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2514600"/>
            <a:ext cx="3474720" cy="30175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3484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2  Agent 執行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34840" y="3172968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34840" y="3291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Claude Code 解讀規格，
自動分派子任務給
Agent A / Agent B，
git commit 記錄每步驟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37033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CCCC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2514600"/>
            <a:ext cx="3474720" cy="30175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366760" y="2651760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3  驗證與迭代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3172968"/>
            <a:ext cx="3200400" cy="3657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329184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人類審查輸出是否符合規格，
不符則修改規格重跑 —
而非修改 Agent 內部邏輯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58064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07070"/>
                </a:solidFill>
              </a:rPr>
              <a:t>優點：可重現、可審計、人類保有控制權；每次 git commit 都對應一條規格指令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多智能體工作流程架構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Multi-Agent Workflow  ·  Claude Code  +  Agent A  +  GPT-4o Agent B</a:t>
            </a:r>
          </a:p>
        </p:txBody>
      </p:sp>
      <p:sp>
        <p:nvSpPr>
          <p:cNvPr id="5" name="Rectangle 4"/>
          <p:cNvSpPr/>
          <p:nvPr/>
        </p:nvSpPr>
        <p:spPr>
          <a:xfrm>
            <a:off x="10607040" y="1234440"/>
            <a:ext cx="1581912" cy="5623560"/>
          </a:xfrm>
          <a:prstGeom prst="rect">
            <a:avLst/>
          </a:prstGeom>
          <a:solidFill>
            <a:srgbClr val="F0F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652760" y="132588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78630"/>
                </a:solidFill>
              </a:rPr>
              <a:t>git log</a:t>
            </a:r>
          </a:p>
        </p:txBody>
      </p:sp>
      <p:sp>
        <p:nvSpPr>
          <p:cNvPr id="7" name="Rectangle 6"/>
          <p:cNvSpPr/>
          <p:nvPr/>
        </p:nvSpPr>
        <p:spPr>
          <a:xfrm>
            <a:off x="10744200" y="1847088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27080" y="17830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fetch_stocks.py</a:t>
            </a:r>
          </a:p>
        </p:txBody>
      </p:sp>
      <p:sp>
        <p:nvSpPr>
          <p:cNvPr id="9" name="Rectangle 8"/>
          <p:cNvSpPr/>
          <p:nvPr/>
        </p:nvSpPr>
        <p:spPr>
          <a:xfrm>
            <a:off x="10744200" y="2221992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927080" y="215798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raw_stocks.csv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744200" y="2596896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927080" y="253288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analysis.py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744200" y="2971800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27080" y="290779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analysis_results.csv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744200" y="3346704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27080" y="328269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plot_stocks.py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744200" y="3721608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927080" y="365760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energy/defense .png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744200" y="4096512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927080" y="4032504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generate_report.py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744200" y="4471416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927080" y="4407408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final_report.md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744200" y="4846320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927080" y="478231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generate_ppt.py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744200" y="5221224"/>
            <a:ext cx="109728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927080" y="5157216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707070"/>
                </a:solidFill>
              </a:rPr>
              <a:t>iran_war_stocks.pptx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0" y="1828800"/>
            <a:ext cx="2560320" cy="1097280"/>
          </a:xfrm>
          <a:prstGeom prst="rect">
            <a:avLst/>
          </a:prstGeom>
          <a:solidFill>
            <a:srgbClr val="1F3564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0" y="19202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Claude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0" y="23317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</a:rPr>
              <a:t>Orchestrator
規格解讀 · 任務分派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0" y="1234440"/>
            <a:ext cx="1645920" cy="5029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0" y="1234440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人類撰寫規格 (Spec)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63640" y="1737360"/>
            <a:ext cx="54864" cy="9144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97680" y="2926080"/>
            <a:ext cx="54864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8266176" y="2926080"/>
            <a:ext cx="54864" cy="64008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011680" y="3566160"/>
            <a:ext cx="2560320" cy="1417320"/>
          </a:xfrm>
          <a:prstGeom prst="rect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2011680" y="36393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Agent 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01168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數據抓取 &amp; 圖表生成
yfinance · matplotlib
→ raw_stocks.csv · .png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46720" y="3566160"/>
            <a:ext cx="2560320" cy="1417320"/>
          </a:xfrm>
          <a:prstGeom prst="rect">
            <a:avLst/>
          </a:prstGeom>
          <a:solidFill>
            <a:srgbClr val="107C1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8046720" y="3639312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GPT-4o  Agent 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46720" y="402336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</a:rPr>
              <a:t>報告撰寫 &amp; 洞察分析
analysis.py · generate_report.py
→ final_report.md · .pptx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64408" y="4983480"/>
            <a:ext cx="54864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299448" y="4983480"/>
            <a:ext cx="54864" cy="27432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3200400" y="5257800"/>
            <a:ext cx="6217920" cy="6858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0" y="5257800"/>
            <a:ext cx="6217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F3564"/>
                </a:solidFill>
              </a:rPr>
              <a:t>iran_war_stocks.pptx  ·  final_report.md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3291840"/>
            <a:ext cx="1645920" cy="1188720"/>
          </a:xfrm>
          <a:prstGeom prst="rect">
            <a:avLst/>
          </a:prstGeom>
          <a:solidFill>
            <a:srgbClr val="F2F2F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65760" y="3383280"/>
            <a:ext cx="1463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3564"/>
                </a:solidFill>
              </a:rPr>
              <a:t>Yahoo Finance</a:t>
            </a:r>
          </a:p>
          <a:p>
            <a:pPr algn="ctr"/>
            <a:r>
              <a:rPr sz="900">
                <a:solidFill>
                  <a:srgbClr val="1F3564"/>
                </a:solidFill>
              </a:rPr>
              <a:t>XOM · CVX · COP
LMT · RTX · NOC · CL=F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920240" y="3794760"/>
            <a:ext cx="91440" cy="54864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事件背景：美伊戰爭時間軸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US–Iran War Timeline  · 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3749040"/>
            <a:ext cx="10515600" cy="73152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94944" y="3657600"/>
            <a:ext cx="256032" cy="256032"/>
          </a:xfrm>
          <a:prstGeom prst="ellipse">
            <a:avLst/>
          </a:prstGeom>
          <a:solidFill>
            <a:srgbClr val="2E74B5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2026-01-01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9144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E74B5"/>
                </a:solidFill>
              </a:rPr>
              <a:t>觀察期開始
Baseline</a:t>
            </a:r>
          </a:p>
        </p:txBody>
      </p:sp>
      <p:sp>
        <p:nvSpPr>
          <p:cNvPr id="9" name="Oval 8"/>
          <p:cNvSpPr/>
          <p:nvPr/>
        </p:nvSpPr>
        <p:spPr>
          <a:xfrm>
            <a:off x="3323844" y="3657600"/>
            <a:ext cx="256032" cy="256032"/>
          </a:xfrm>
          <a:prstGeom prst="ellipse">
            <a:avLst/>
          </a:prstGeom>
          <a:solidFill>
            <a:srgbClr val="C000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289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2026-02-28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374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00000"/>
                </a:solidFill>
              </a:rPr>
              <a:t>戰爭爆發
War Outbreak</a:t>
            </a:r>
          </a:p>
        </p:txBody>
      </p:sp>
      <p:sp>
        <p:nvSpPr>
          <p:cNvPr id="12" name="Oval 11"/>
          <p:cNvSpPr/>
          <p:nvPr/>
        </p:nvSpPr>
        <p:spPr>
          <a:xfrm>
            <a:off x="5952744" y="3657600"/>
            <a:ext cx="256032" cy="256032"/>
          </a:xfrm>
          <a:prstGeom prst="ellipse">
            <a:avLst/>
          </a:prstGeom>
          <a:solidFill>
            <a:srgbClr val="ED7D31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2578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2026-04-08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ED7D31"/>
                </a:solidFill>
              </a:rPr>
              <a:t>停火協議
Ceasefire</a:t>
            </a:r>
          </a:p>
        </p:txBody>
      </p:sp>
      <p:sp>
        <p:nvSpPr>
          <p:cNvPr id="15" name="Oval 14"/>
          <p:cNvSpPr/>
          <p:nvPr/>
        </p:nvSpPr>
        <p:spPr>
          <a:xfrm>
            <a:off x="8581644" y="3657600"/>
            <a:ext cx="256032" cy="256032"/>
          </a:xfrm>
          <a:prstGeom prst="ellipse">
            <a:avLst/>
          </a:prstGeom>
          <a:solidFill>
            <a:srgbClr val="37863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8867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2026-05-05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952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378630"/>
                </a:solidFill>
              </a:rPr>
              <a:t>軍事行動結束
Op. Ended</a:t>
            </a:r>
          </a:p>
        </p:txBody>
      </p:sp>
      <p:sp>
        <p:nvSpPr>
          <p:cNvPr id="18" name="Oval 17"/>
          <p:cNvSpPr/>
          <p:nvPr/>
        </p:nvSpPr>
        <p:spPr>
          <a:xfrm>
            <a:off x="11210544" y="3657600"/>
            <a:ext cx="256032" cy="256032"/>
          </a:xfrm>
          <a:prstGeom prst="ellipse">
            <a:avLst/>
          </a:prstGeom>
          <a:solidFill>
            <a:srgbClr val="70707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515600" y="297180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F3564"/>
                </a:solidFill>
              </a:rPr>
              <a:t>2026-06-03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424160" y="4069080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07070"/>
                </a:solidFill>
              </a:rPr>
              <a:t>資料截止
Data End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" y="2624328"/>
            <a:ext cx="2628900" cy="4572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22960" y="2404872"/>
            <a:ext cx="45720" cy="21945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406140" y="2404872"/>
            <a:ext cx="45720" cy="21945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4869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2E74B5"/>
                </a:solidFill>
              </a:rPr>
              <a:t>戰前期  Before War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451860" y="2624328"/>
            <a:ext cx="2628900" cy="457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451860" y="2404872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35040" y="2404872"/>
            <a:ext cx="45720" cy="21945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357759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C00000"/>
                </a:solidFill>
              </a:rPr>
              <a:t>戰爭爆發期  War Outbreak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2624328"/>
            <a:ext cx="5257800" cy="45720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080760" y="2404872"/>
            <a:ext cx="45720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11292840" y="2404872"/>
            <a:ext cx="45720" cy="219456"/>
          </a:xfrm>
          <a:prstGeom prst="rect">
            <a:avLst/>
          </a:prstGeom>
          <a:solidFill>
            <a:srgbClr val="3786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520940" y="22402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1">
                <a:solidFill>
                  <a:srgbClr val="378630"/>
                </a:solidFill>
              </a:rPr>
              <a:t>停火後  After Ceasefire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12064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12064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伊朗核武計畫談判破裂，美軍實施精準打擊德黑蘭核設施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562356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62356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霍木茲海峽短暫封鎖，全球約 20% 石油運輸受阻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" y="6126480"/>
            <a:ext cx="274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0000"/>
                </a:solidFill>
              </a:rPr>
              <a:t>•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612648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4 月 8 日在聯合國斡旋下達成臨時停火，5 月 5 日正式結束敵對行動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能源股走勢分析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Energy Stocks  ·  XOM · CVX · COP  +  CL=F (right axis)</a:t>
            </a:r>
          </a:p>
        </p:txBody>
      </p:sp>
      <p:pic>
        <p:nvPicPr>
          <p:cNvPr id="5" name="Picture 4" descr="energy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8503920" cy="544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261872"/>
            <a:ext cx="3017520" cy="544068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關鍵發現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783080"/>
            <a:ext cx="265176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0" y="1920240"/>
            <a:ext cx="265176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9933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戰前期
+16%～+25%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5059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市場提前反應供應
中斷預期，三股
同步上揚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3337560"/>
            <a:ext cx="2651760" cy="36576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34107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爆發期
+9%～+12%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86791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原油飆升 +42%
帶動能源股續漲
（但漲幅縮窄）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75488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48280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停火後
-2%～-6%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28523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供應恢復預期使
能源股獲利了結
回落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52560" y="5989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707070"/>
                </a:solidFill>
              </a:rPr>
              <a:t>原油領先能源股
約 1-2 個交易日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國防股走勢分析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Defense Stocks  ·  LMT · RTX · NOC  +  CL=F (right axis)</a:t>
            </a:r>
          </a:p>
        </p:txBody>
      </p:sp>
      <p:pic>
        <p:nvPicPr>
          <p:cNvPr id="5" name="Picture 4" descr="defense_stoc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61872"/>
            <a:ext cx="8503920" cy="5440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915400" y="1261872"/>
            <a:ext cx="3017520" cy="544068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052560" y="13716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3564"/>
                </a:solidFill>
              </a:rPr>
              <a:t>關鍵發現</a:t>
            </a:r>
          </a:p>
        </p:txBody>
      </p:sp>
      <p:sp>
        <p:nvSpPr>
          <p:cNvPr id="8" name="Rectangle 7"/>
          <p:cNvSpPr/>
          <p:nvPr/>
        </p:nvSpPr>
        <p:spPr>
          <a:xfrm>
            <a:off x="9052560" y="178308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052560" y="1920240"/>
            <a:ext cx="2651760" cy="36576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052560" y="199339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戰前期
+8%～+32%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245059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市場預期戰爭
提前買入，尤其
LMT 大漲 32%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52560" y="333756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052560" y="341071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爆發期
-9%～-11%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386791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出乎意料的下跌！
市場判斷短期衝突
不增加國防預算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052560" y="4754880"/>
            <a:ext cx="2651760" cy="36576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4828032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</a:rPr>
              <a:t>停火後
-14%～-22%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285232"/>
            <a:ext cx="26517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軍事需求預期降溫，
資金轉向能源股，
持續回落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897880"/>
            <a:ext cx="2651760" cy="65836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098280" y="5925312"/>
            <a:ext cx="2560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C00000"/>
                </a:solidFill>
              </a:rPr>
              <a:t>違反直覺：戰爭期間
國防股反而下跌！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各階段漲跌幅彙整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Percentage Change by Period  ·  source: data/analysis_results.csv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6516627"/>
              </p:ext>
            </p:extLst>
          </p:nvPr>
        </p:nvGraphicFramePr>
        <p:xfrm>
          <a:off x="1097280" y="1337733"/>
          <a:ext cx="9966960" cy="4948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股票代碼
Ticker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戰前期
Before War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戰爭爆發期
War Outbreak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停火後
After Ceasefire</a:t>
                      </a:r>
                    </a:p>
                  </a:txBody>
                  <a:tcPr>
                    <a:solidFill>
                      <a:srgbClr val="1F35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CL=F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+16.92%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+42.33%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+0.25%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COP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+18.25%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+11.64%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-5.97%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CVX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+20.97%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+9.12%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-1.88%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2E74B5"/>
                          </a:solidFill>
                        </a:rPr>
                        <a:t>XOM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+25.17%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+10.01%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-3.61%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</a:rPr>
                        <a:t>LMT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+32.39%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-10.69%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-17.77%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</a:rPr>
                        <a:t>NOC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78630"/>
                          </a:solidFill>
                        </a:rPr>
                        <a:t>+24.08%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-11.17%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-21.60%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18596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C00000"/>
                          </a:solidFill>
                        </a:rPr>
                        <a:t>RTX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78630"/>
                          </a:solidFill>
                        </a:rPr>
                        <a:t>+8.57%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C00000"/>
                          </a:solidFill>
                        </a:rPr>
                        <a:t>-9.08%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C00000"/>
                          </a:solidFill>
                        </a:rPr>
                        <a:t>-14.00%</a:t>
                      </a:r>
                    </a:p>
                  </a:txBody>
                  <a:tcPr>
                    <a:solidFill>
                      <a:srgbClr val="FF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00568" y="6537960"/>
            <a:ext cx="228600" cy="22860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9168" y="65836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2E74B5"/>
                </a:solidFill>
              </a:rPr>
              <a:t>能源股</a:t>
            </a:r>
            <a:r>
              <a:rPr sz="1100" b="0" i="0" dirty="0">
                <a:solidFill>
                  <a:srgbClr val="2E74B5"/>
                </a:solidFill>
              </a:rPr>
              <a:t> / CL=F</a:t>
            </a:r>
          </a:p>
        </p:txBody>
      </p:sp>
      <p:sp>
        <p:nvSpPr>
          <p:cNvPr id="8" name="Rectangle 7"/>
          <p:cNvSpPr/>
          <p:nvPr/>
        </p:nvSpPr>
        <p:spPr>
          <a:xfrm>
            <a:off x="1972168" y="6583680"/>
            <a:ext cx="228600" cy="228600"/>
          </a:xfrm>
          <a:prstGeom prst="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2389856" y="66065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 dirty="0" err="1">
                <a:solidFill>
                  <a:srgbClr val="C00000"/>
                </a:solidFill>
              </a:rPr>
              <a:t>國防股</a:t>
            </a:r>
            <a:endParaRPr sz="1100" b="0" i="0" dirty="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關鍵發現：國防股為何下跌？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Key Findings  ·  Two Competing Hypotheses  ·  You Decide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80160"/>
            <a:ext cx="11457432" cy="658368"/>
          </a:xfrm>
          <a:prstGeom prst="rect">
            <a:avLst/>
          </a:prstGeom>
          <a:solidFill>
            <a:srgbClr val="FF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316736"/>
            <a:ext cx="1115568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0000"/>
                </a:solidFill>
              </a:rPr>
              <a:t>現象：戰爭爆發期間國防股 LMT / NOC / RTX 下跌 -9%～-11%，能源股同期上漲 +9%～+12% — 為什麼？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029968"/>
            <a:ext cx="5623560" cy="39319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029968"/>
            <a:ext cx="5623560" cy="47548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0848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假說 A　美軍表現不如預期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624328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伊朗成功短暫封鎖霍木茲海峡，美軍未能快速解除封鎖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383280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383280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飛彈與無人機攻擊穿透美軍防空系統，顯示防空效能不足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42232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142232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戰爭從 2/28 持續至 4/8 停火，長達 39 天，超出市場「閃電戰」預期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901184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2E74B5"/>
                </a:solidFill>
              </a:rPr>
              <a:t>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01184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美軍武器耗搏高，補充採購雖増加但短期無法轉為獲利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458968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2E74B5"/>
                </a:solidFill>
              </a:rPr>
              <a:t>→ 市場認為美國國防工業「能力受質疑」，股價反映負面評估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2029968"/>
            <a:ext cx="5623560" cy="39319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2029968"/>
            <a:ext cx="562356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2084832"/>
            <a:ext cx="5349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假說 B　買謠言、賣事實（Pre-priced）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624328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624328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LMT、NOC 在戰前期已大漲 32% / 24%，市場早已定價戰爭概念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383280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83280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LMT 與 NOC 股價高點出現在 2/28 之前，宣戰當天即開始回落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142232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4142232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實際武器訂單從簽約到入帳獲利需要 3-5 年，無法反映短期股價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901184"/>
            <a:ext cx="27432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</a:rPr>
              <a:t>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901184"/>
            <a:ext cx="5166360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F3564"/>
                </a:solidFill>
              </a:rPr>
              <a:t>短期衝突 (39 天) 不足以推動新一輪長期國防預算增加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5458968"/>
            <a:ext cx="5349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1">
                <a:solidFill>
                  <a:srgbClr val="ED7D31"/>
                </a:solidFill>
              </a:rPr>
              <a:t>→ 市場行為符合「預期已充分反映，事件落地後獲利了結」的經典模式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2670048"/>
            <a:ext cx="457200" cy="31089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37673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07070"/>
                </a:solidFill>
              </a:rPr>
              <a:t>VS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6080760"/>
            <a:ext cx="11457432" cy="62179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02920" y="6099048"/>
            <a:ext cx="1115568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707070"/>
                </a:solidFill>
              </a:rPr>
              <a:t>分析局限：純價格分析無法區分兩種假說 — 需結合基本面資料（訂單數據、武器耗搏報告、國防預算修正）才能驗證。
這正是 Spec-Driven Multi-Agent 分析的邊界：Agent 能高效處理量化資料，但「為什麼」仍需人類判斷。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91440"/>
            <a:ext cx="11338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AI 是工具，判斷是人的責任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777240"/>
            <a:ext cx="11338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</a:rPr>
              <a:t>Spec-Driven Multi-Agent 實作反思  ·  Lessons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298448"/>
            <a:ext cx="5486400" cy="4160520"/>
          </a:xfrm>
          <a:prstGeom prst="rect">
            <a:avLst/>
          </a:prstGeom>
          <a:solidFill>
            <a:srgbClr val="E8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298448"/>
            <a:ext cx="5486400" cy="475488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13624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AI Agent 能做的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8928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928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收集大量數據（Yahoo Finance，7 支股票 × 104 天）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786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5786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自動計算漲跌幅、生成圖表與視覚化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2644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撰寫結構化報告，格式一致、可重現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9502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9502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多 Agent 並行處理，效率遠高於人工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46360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E74B5"/>
                </a:solidFill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360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全程 git 記錄，每步可追湯、可審計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36792" y="1298448"/>
            <a:ext cx="5486400" cy="4160520"/>
          </a:xfrm>
          <a:prstGeom prst="rect">
            <a:avLst/>
          </a:prstGeom>
          <a:solidFill>
            <a:srgbClr val="FF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336792" y="1298448"/>
            <a:ext cx="5486400" cy="47548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13624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人類不可取代的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18928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48272" y="18928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判斷數據背後的邏輯（假說 A vs 假說 B）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3952" y="25786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48272" y="25786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理解地緣政治的複雜性與胈絡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73952" y="32644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48272" y="32644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提出有意義的研究假說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73952" y="39502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48272" y="39502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决定哪一種解釋更可信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73952" y="4636008"/>
            <a:ext cx="274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ED7D31"/>
                </a:solidFill>
              </a:rPr>
              <a:t>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48272" y="4636008"/>
            <a:ext cx="5029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F3564"/>
                </a:solidFill>
              </a:rPr>
              <a:t>對結論承擔最後責任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1847088"/>
            <a:ext cx="301752" cy="352044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035040" y="2944368"/>
            <a:ext cx="3017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707070"/>
                </a:solidFill>
              </a:rPr>
              <a:t>+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623560"/>
            <a:ext cx="11457432" cy="1417320"/>
          </a:xfrm>
          <a:prstGeom prst="rect">
            <a:avLst/>
          </a:prstGeom>
          <a:solidFill>
            <a:srgbClr val="1F35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48640" y="5806440"/>
            <a:ext cx="1109167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本次實作展示了 Spec-Driven Multi-Agent 的效率，但國防股假說 A vs 假說 B 的辩證說明：
AI 能告訴你「發生了什麼」，但「為什麼」和「代表什麼意義」，仍需要人類的批判性思考。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903</Words>
  <Application>Microsoft Macintosh PowerPoint</Application>
  <PresentationFormat>自訂</PresentationFormat>
  <Paragraphs>187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朱賢孝</cp:lastModifiedBy>
  <cp:revision>2</cp:revision>
  <dcterms:created xsi:type="dcterms:W3CDTF">2013-01-27T09:14:16Z</dcterms:created>
  <dcterms:modified xsi:type="dcterms:W3CDTF">2026-06-03T04:17:28Z</dcterms:modified>
  <cp:category/>
</cp:coreProperties>
</file>